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D4FF"/>
                </a:solidFill>
                <a:latin typeface="Calibri"/>
              </a:rPr>
              <a:t>Trie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E8E8E8"/>
                </a:solidFill>
                <a:latin typeface="Calibri"/>
              </a:rPr>
              <a:t>Not A Tree   (but it is…)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78899"/>
                </a:solidFill>
                <a:latin typeface="Calibri"/>
              </a:rPr>
              <a:t>Data Structures &amp;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What is a Trie?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778899"/>
                </a:solidFill>
                <a:latin typeface="Calibri"/>
              </a:rPr>
              <a:t>aka prefix tree  |  aka retrieval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E8E8"/>
                </a:solidFill>
                <a:latin typeface="Calibri"/>
              </a:rPr>
              <a:t>• A tree where each node represents a character — not a stored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E8E8"/>
                </a:solidFill>
                <a:latin typeface="Calibri"/>
              </a:rPr>
              <a:t>• The root represents the empty string  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E8E8"/>
                </a:solidFill>
                <a:latin typeface="Calibri"/>
              </a:rPr>
              <a:t>• Each edge is labeled with one character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00984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E8E8"/>
                </a:solidFill>
                <a:latin typeface="Calibri"/>
              </a:rPr>
              <a:t>• A path from root to a marked node ( * ) spells a complete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6791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D4FF"/>
                </a:solidFill>
                <a:latin typeface="Calibri"/>
              </a:rPr>
              <a:t>• Nodes are shared — common prefixes travel the same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9F"/>
                </a:solidFill>
                <a:latin typeface="Calibri"/>
              </a:rPr>
              <a:t>• This shared storage is why prefix queries are so fast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Why "Trie"?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778899"/>
                </a:solidFill>
                <a:latin typeface="Calibri"/>
              </a:rPr>
              <a:t>From the word: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8E8E8"/>
                </a:solidFill>
                <a:latin typeface="Calibri"/>
              </a:rPr>
              <a:t>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  <a:latin typeface="Calibri"/>
              </a:rPr>
              <a:t>TRIE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7373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E8E8E8"/>
                </a:solidFill>
                <a:latin typeface="Calibri"/>
              </a:rPr>
              <a:t>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778899"/>
                </a:solidFill>
                <a:latin typeface="Calibri"/>
              </a:rPr>
              <a:t>Officially pronounced  "try"  —  not  "tree"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E8E8"/>
                </a:solidFill>
                <a:latin typeface="Calibri"/>
              </a:rPr>
              <a:t>Yet it is literally a tree.  That's the joke in the title.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78899"/>
                </a:solidFill>
                <a:latin typeface="Calibri"/>
              </a:rPr>
              <a:t>"try"  was chosen to avoid confusion with B-trees, AVL trees,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78899"/>
                </a:solidFill>
                <a:latin typeface="Calibri"/>
              </a:rPr>
              <a:t>The confusion persists anyway.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Visualizing a Trie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778899"/>
                </a:solidFill>
                <a:latin typeface="Calibri"/>
              </a:rPr>
              <a:t>Inserting: "app"  "apt"  "apple"  "apply"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0" cy="4663440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1664207"/>
            <a:ext cx="6583680" cy="44439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FF9F"/>
                </a:solidFill>
                <a:latin typeface="Courier New"/>
              </a:rPr>
              <a:t>[root]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    |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   (a)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    |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   (p)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  /   \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(p)   (t)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* |     *      &lt;-- "app",  "apt"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 (l)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 /   \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(e)   (y)</a:t>
            </a:r>
          </a:p>
          <a:p>
            <a:r>
              <a:rPr sz="2000">
                <a:solidFill>
                  <a:srgbClr val="00FF9F"/>
                </a:solidFill>
                <a:latin typeface="Courier New"/>
              </a:rPr>
              <a:t>      *     *         &lt;-- "apple",  "apply"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9F"/>
                </a:solidFill>
                <a:latin typeface="Calibri"/>
              </a:rPr>
              <a:t>*  = end of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606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D4FF"/>
                </a:solidFill>
                <a:latin typeface="Calibri"/>
              </a:rPr>
              <a:t>All four words share
the same  a → p 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657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Shared prefix =
shared nodes =
space + time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Why Not Just a Hash Map?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E8E8"/>
                </a:solidFill>
                <a:latin typeface="Calibri"/>
              </a:rPr>
              <a:t>Hash maps are excellent for exact lookups — but prefix queries require scanning every key.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402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00D4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0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00D4FF"/>
                          </a:solidFill>
                        </a:defRPr>
                      </a:pPr>
                      <a:r>
                        <a:t>Hash Map</a:t>
                      </a:r>
                    </a:p>
                  </a:txBody>
                  <a:tcPr>
                    <a:solidFill>
                      <a:srgbClr val="0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00D4FF"/>
                          </a:solidFill>
                        </a:defRPr>
                      </a:pPr>
                      <a:r>
                        <a:t>Balanced BST</a:t>
                      </a:r>
                    </a:p>
                  </a:txBody>
                  <a:tcPr>
                    <a:solidFill>
                      <a:srgbClr val="0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00D4FF"/>
                          </a:solidFill>
                        </a:defRPr>
                      </a:pPr>
                      <a:r>
                        <a:t>Trie</a:t>
                      </a:r>
                    </a:p>
                  </a:txBody>
                  <a:tcPr>
                    <a:solidFill>
                      <a:srgbClr val="05203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Insert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 avg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 log n)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Exact Search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 avg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 log n)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Prefix Search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5555"/>
                          </a:solidFill>
                        </a:defRPr>
                      </a:pPr>
                      <a:r>
                        <a:t>O(k · n)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 log n + out)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FF9F"/>
                          </a:solidFill>
                        </a:defRPr>
                      </a:pPr>
                      <a:r>
                        <a:t>O(k + out)</a:t>
                      </a:r>
                    </a:p>
                  </a:txBody>
                  <a:tcPr>
                    <a:solidFill>
                      <a:srgbClr val="10284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 avg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 log n)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E8E8E8"/>
                          </a:solidFill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0D203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7044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78899"/>
                </a:solidFill>
                <a:latin typeface="Calibri"/>
              </a:rPr>
              <a:t>k = length of string,   n = number of strings stored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Autocomplete /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78899"/>
                </a:solidFill>
                <a:latin typeface="Calibri"/>
              </a:rPr>
              <a:t>IDE symbol completion, phone contacts, search bars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9F"/>
                </a:solidFill>
                <a:latin typeface="Calibri"/>
              </a:rPr>
              <a:t>IP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26664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78899"/>
                </a:solidFill>
                <a:latin typeface="Calibri"/>
              </a:rPr>
              <a:t>Longest prefix match — runs in every router on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E8E8"/>
                </a:solidFill>
                <a:latin typeface="Calibri"/>
              </a:rPr>
              <a:t>Spell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41064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78899"/>
                </a:solidFill>
                <a:latin typeface="Calibri"/>
              </a:rPr>
              <a:t>Detection O(k);  suggestions via edit distance enumeration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78899"/>
                </a:solidFill>
                <a:latin typeface="Calibri"/>
              </a:rPr>
              <a:t>DNS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55464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78899"/>
                </a:solidFill>
                <a:latin typeface="Calibri"/>
              </a:rPr>
              <a:t>Domain hierarchy (com → google → mail) is a natural trie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78899"/>
                </a:solidFill>
                <a:latin typeface="Calibri"/>
              </a:rPr>
              <a:t>Git &amp; 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9864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78899"/>
                </a:solidFill>
                <a:latin typeface="Calibri"/>
              </a:rPr>
              <a:t>Tab-completion of branch names and file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Autocomplete vs.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778899"/>
                </a:solidFill>
                <a:latin typeface="Calibri"/>
              </a:rPr>
              <a:t>They are solving different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  <a:latin typeface="Calibri"/>
              </a:rPr>
              <a:t>Autocomplete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One right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IDE:  std::vec  →  std::vector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Terminal:  git che&lt;TAB&gt;  →  git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216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Trie walks prefix, returns subtree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1538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Pick first (or only) match. 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645920"/>
            <a:ext cx="36576" cy="4663440"/>
          </a:xfrm>
          <a:prstGeom prst="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FF9F"/>
                </a:solidFill>
                <a:latin typeface="Calibri"/>
              </a:rPr>
              <a:t>Suggestions  (Google)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Many candidates, must be ranked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3405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Type "algo" → Trie returns millions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Rank by: global frequency, your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216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history, location, trending, ML…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1538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• Trie does the easy part.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78899"/>
                </a:solidFill>
                <a:latin typeface="Calibri"/>
              </a:rPr>
              <a:t>The Trie handles "find the candidates."  Everything after that is outside the Trie's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IP Routing — Longest Prefix 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Calibri"/>
              </a:rPr>
              <a:t>Every IP address is 32 bits (IPv4). Routing entries are CIDR blocks: 192.168.1.0/24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7772400" cy="3977639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7498079" cy="3758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FF9F"/>
                </a:solidFill>
                <a:latin typeface="Courier New"/>
              </a:rPr>
              <a:t>/24  →  first 24 bits must match, last 8 can be anything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Routing table (binary Trie, one node per bit):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10.0.0.0/8       match first  8 bits  →  mark here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10.20.0.0/16     match first 16 bits  →  mark here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10.20.30.0/24    match first 24 bits  →  mark here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For each incoming packet: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Walk the Trie bit-by-bit.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Track the LAST node that had a valid route entry.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That deepest match wins.  (Longest Prefix Match)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Cost: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FF9F"/>
                </a:solidFill>
                <a:latin typeface="Calibri"/>
              </a:rPr>
              <a:t>O(32) — IPv4
O(128) — IPv6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566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Independent of
routing table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38912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5555"/>
                </a:solidFill>
                <a:latin typeface="Calibri"/>
              </a:rPr>
              <a:t>Without Trie:
O(n) scan per packet
→ unacceptable at
line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Spell Check — Two Distinct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Phase 1 —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8E8"/>
                </a:solidFill>
                <a:latin typeface="Calibri"/>
              </a:rPr>
              <a:t>Is the word in the dictionary?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9F"/>
                </a:solidFill>
                <a:latin typeface="Calibri"/>
              </a:rPr>
              <a:t>Trie exact-match lookup:  O(k). 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Phase 2 — Suggestion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Word not found — what did they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136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Metric: Levenshtein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0682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  (insertions, deletions, substitutions)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001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"recieve" → "receive"  distance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3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Generate all strings within dist 1 of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Look each up in the Trie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795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alibri"/>
              </a:rPr>
              <a:t>Return the ones that exist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00200"/>
            <a:ext cx="36576" cy="4846320"/>
          </a:xfrm>
          <a:prstGeom prst="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48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778899"/>
                </a:solidFill>
                <a:latin typeface="Calibri"/>
              </a:rPr>
              <a:t>dist-1 candidates
from a length-k word: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9F"/>
                </a:solidFill>
                <a:latin typeface="Calibri"/>
              </a:rPr>
              <a:t>O(54k)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37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× O(k) per Trie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  <a:latin typeface="Calibri"/>
              </a:rPr>
              <a:t>= O(k²)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434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Fast enough for
every keystroke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C++ — Two Common Node Designs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623560" cy="3657600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7"/>
            <a:ext cx="5349240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FF9F"/>
                </a:solidFill>
                <a:latin typeface="Courier New"/>
              </a:rPr>
              <a:t>// Design A: Self-referential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class Trie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private: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unordered_map&lt;char,Trie*&gt; children;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bool is_end = false;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public: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Trie() {}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void insert(string word);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vector&lt;string&gt; search(string prefix);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554480"/>
            <a:ext cx="5623560" cy="4206240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64207"/>
            <a:ext cx="5349240" cy="39867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FF9F"/>
                </a:solidFill>
                <a:latin typeface="Courier New"/>
              </a:rPr>
              <a:t>// Design B: Separate node class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class TrieNode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public: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unordered_map&lt;char,TrieNode*&gt; children;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bool is_word = false;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};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class Trie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TrieNode* root;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public: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Trie() { root = new TrieNode(); }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void insert(string word);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bool search(string word);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521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78899"/>
                </a:solidFill>
                <a:latin typeface="Calibri"/>
              </a:rPr>
              <a:t>Both use  unordered_map&lt;char, Node*&gt;  →  O(1) average child lookup  |  Max 26 or 128 children per node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Insert &amp; Prefix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5623560" cy="3291840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7"/>
            <a:ext cx="5349240" cy="3072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FF9F"/>
                </a:solidFill>
                <a:latin typeface="Courier New"/>
              </a:rPr>
              <a:t>void insert(string word)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Trie* node = this;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for (char c : word)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if (!node-&gt;children.count(c))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    node-&gt;children[c] = new Trie();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node = node-&gt;children[c];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}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node-&gt;is_end = true; // mark word end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554480"/>
            <a:ext cx="5623560" cy="4023360"/>
          </a:xfrm>
          <a:prstGeom prst="rect">
            <a:avLst/>
          </a:prstGeom>
          <a:solidFill>
            <a:srgbClr val="050A14"/>
          </a:solidFill>
          <a:ln>
            <a:solidFill>
              <a:srgbClr val="0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64207"/>
            <a:ext cx="5349240" cy="3803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FF9F"/>
                </a:solidFill>
                <a:latin typeface="Courier New"/>
              </a:rPr>
              <a:t>vector&lt;string&gt; search(string prefix)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Trie* node = this;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for (char c : prefix) {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if (!node-&gt;children.count(c))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    return {};     // prefix absent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    node = node-&gt;children[c];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}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    return find_words(node, prefix);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}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// find_words: DFS from here,</a:t>
            </a:r>
          </a:p>
          <a:p>
            <a:r>
              <a:rPr sz="1700">
                <a:solidFill>
                  <a:srgbClr val="00FF9F"/>
                </a:solidFill>
                <a:latin typeface="Courier New"/>
              </a:rPr>
              <a:t>// collect every is_end node below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Insert: O(k)     |     Prefix search: O(k + output size)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00200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Tree where paths spell words. Common prefixes share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0370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Insert: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0370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Walk one edge per character. O(k). Create nodes as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0720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Exact search: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07208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Walk edges. If you fall off, it's not there. O(k).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107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Prefix search: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41071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Walk prefix, collect subtree. O(k + output). Hash map can't do this cheaply.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1421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vs Hash Map: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14216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Prefix query: O(k·n) hash map vs O(k + out) Trie. Not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Real 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617720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Autocomplete, IP routing (TCAM), spell check, git tab-complete.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2122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Key insight: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212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8E8"/>
                </a:solidFill>
                <a:latin typeface="Calibri"/>
              </a:rPr>
              <a:t>Shared prefixes = shared nodes = fast prefix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